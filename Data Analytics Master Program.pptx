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94660"/>
  </p:normalViewPr>
  <p:slideViewPr>
    <p:cSldViewPr snapToGrid="0">
      <p:cViewPr>
        <p:scale>
          <a:sx n="75" d="100"/>
          <a:sy n="75" d="100"/>
        </p:scale>
        <p:origin x="43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7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6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6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6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2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2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6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244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32654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4668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74799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303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32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2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hkraftiersdigital.in/" TargetMode="External"/><Relationship Id="rId2" Type="http://schemas.openxmlformats.org/officeDocument/2006/relationships/hyperlink" Target="mailto:info@techkraftiersdigital.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0884F175-9D23-496E-80AC-F3D2FD541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2D4B7B8-5AFE-4B32-A805-72EC571E6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57D13B2-7A74-4788-8689-5EDB2DA86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23">
              <a:extLst>
                <a:ext uri="{FF2B5EF4-FFF2-40B4-BE49-F238E27FC236}">
                  <a16:creationId xmlns:a16="http://schemas.microsoft.com/office/drawing/2014/main" id="{66964837-B2CC-483D-BEDA-4BB1901BC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0" name="Rectangle 25">
              <a:extLst>
                <a:ext uri="{FF2B5EF4-FFF2-40B4-BE49-F238E27FC236}">
                  <a16:creationId xmlns:a16="http://schemas.microsoft.com/office/drawing/2014/main" id="{77D4E216-8B6C-4A3B-AF75-3016320F6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CDD4EA12-82D2-47D7-8742-8F4746AA6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2" name="Rectangle 27">
              <a:extLst>
                <a:ext uri="{FF2B5EF4-FFF2-40B4-BE49-F238E27FC236}">
                  <a16:creationId xmlns:a16="http://schemas.microsoft.com/office/drawing/2014/main" id="{115B7F7E-4C23-429B-A947-A5B436DB2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3" name="Rectangle 28">
              <a:extLst>
                <a:ext uri="{FF2B5EF4-FFF2-40B4-BE49-F238E27FC236}">
                  <a16:creationId xmlns:a16="http://schemas.microsoft.com/office/drawing/2014/main" id="{A6B03A29-0A21-40D4-87E4-3C41D6F54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Rectangle 29">
              <a:extLst>
                <a:ext uri="{FF2B5EF4-FFF2-40B4-BE49-F238E27FC236}">
                  <a16:creationId xmlns:a16="http://schemas.microsoft.com/office/drawing/2014/main" id="{6C871F60-4E5A-449A-B6D8-1F58C12E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3182795B-2BFA-4D7B-BE85-701A73E2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810B9E5C-2AE2-4B4E-916F-F954F2AA8A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030D1F-4A44-8AF8-48DB-24E12500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7413" y="725381"/>
            <a:ext cx="7432616" cy="17678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b="1" dirty="0"/>
              <a:t>Data Analytics Master Program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69EB1-5C08-BB60-EC92-984EE5B95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8050" y="2296160"/>
            <a:ext cx="8391133" cy="3755362"/>
          </a:xfrm>
        </p:spPr>
        <p:txBody>
          <a:bodyPr vert="horz" lIns="91440" tIns="45720" rIns="91440" bIns="45720" rtlCol="0">
            <a:normAutofit/>
          </a:bodyPr>
          <a:lstStyle/>
          <a:p>
            <a:pPr marL="857250" indent="-857250" algn="l">
              <a:lnSpc>
                <a:spcPct val="90000"/>
              </a:lnSpc>
              <a:buFont typeface="Wingdings 3" charset="2"/>
              <a:buChar char=""/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57250" indent="-857250" algn="l">
              <a:lnSpc>
                <a:spcPct val="90000"/>
              </a:lnSpc>
              <a:buFont typeface="Wingdings 3" charset="2"/>
              <a:buChar char=""/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1.Comprehensive Industry-Oriented Curriculum </a:t>
            </a: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2.Learn Excel, SQL, Power BI, Tableau &amp; Python </a:t>
            </a: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3.Real-World Projects &amp; Case Studies </a:t>
            </a: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4.Placement Assistance &amp; Interview Preparation </a:t>
            </a: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5.Industry Recognized Certification </a:t>
            </a: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Duration</a:t>
            </a: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 Months | 100+ Hours Training | Live Projects</a:t>
            </a:r>
          </a:p>
          <a:p>
            <a:pPr algn="l">
              <a:lnSpc>
                <a:spcPct val="90000"/>
              </a:lnSpc>
              <a:buFont typeface="Wingdings 3" charset="2"/>
              <a:buChar char=""/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36369-75A8-1E00-B220-A790EF562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71855"/>
            <a:ext cx="5211978" cy="258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1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5A47-6D30-0D34-44B8-91F4DCE0D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b="1"/>
              <a:t>Why Learn Data Analytics?</a:t>
            </a:r>
            <a:br>
              <a:rPr lang="en-IN" sz="2800" b="1"/>
            </a:br>
            <a:endParaRPr lang="en-IN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BC29B-E604-8456-91AC-97195C9BD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500" b="1"/>
              <a:t>High Industry Demand</a:t>
            </a:r>
          </a:p>
          <a:p>
            <a:pPr>
              <a:lnSpc>
                <a:spcPct val="90000"/>
              </a:lnSpc>
            </a:pPr>
            <a:r>
              <a:rPr lang="en-IN" sz="1500"/>
              <a:t>Organizations rely on data-driven decisions to improve performance and profitability.</a:t>
            </a:r>
          </a:p>
          <a:p>
            <a:pPr>
              <a:lnSpc>
                <a:spcPct val="90000"/>
              </a:lnSpc>
            </a:pPr>
            <a:r>
              <a:rPr lang="en-IN" sz="1500" b="1"/>
              <a:t>Attractive Salary Packages</a:t>
            </a:r>
          </a:p>
          <a:p>
            <a:pPr>
              <a:lnSpc>
                <a:spcPct val="90000"/>
              </a:lnSpc>
            </a:pPr>
            <a:r>
              <a:rPr lang="en-IN" sz="1500"/>
              <a:t>Data Analytics professionals earn competitive salaries across industries.</a:t>
            </a:r>
          </a:p>
          <a:p>
            <a:pPr>
              <a:lnSpc>
                <a:spcPct val="90000"/>
              </a:lnSpc>
            </a:pPr>
            <a:r>
              <a:rPr lang="en-IN" sz="1500" b="1"/>
              <a:t>Career Growth</a:t>
            </a:r>
          </a:p>
          <a:p>
            <a:pPr>
              <a:lnSpc>
                <a:spcPct val="90000"/>
              </a:lnSpc>
            </a:pPr>
            <a:r>
              <a:rPr lang="en-IN" sz="1500"/>
              <a:t>Rapid career progression with opportunities in analytics, BI, and management.</a:t>
            </a:r>
          </a:p>
          <a:p>
            <a:pPr>
              <a:lnSpc>
                <a:spcPct val="90000"/>
              </a:lnSpc>
            </a:pPr>
            <a:r>
              <a:rPr lang="en-IN" sz="1500" b="1"/>
              <a:t>Future-Proof Skill</a:t>
            </a:r>
          </a:p>
          <a:p>
            <a:pPr>
              <a:lnSpc>
                <a:spcPct val="90000"/>
              </a:lnSpc>
            </a:pPr>
            <a:r>
              <a:rPr lang="en-IN" sz="1500"/>
              <a:t>One of the most in-demand skills in the digital economy.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IN" sz="1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D19E4-F801-87D7-9CF8-114D00A30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1" r="28425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0479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CF84-CB74-9D32-B5A0-B5C44B7B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b="1"/>
              <a:t>Career Opportunities</a:t>
            </a:r>
            <a:br>
              <a:rPr lang="en-IN" sz="2800" b="1"/>
            </a:br>
            <a:endParaRPr lang="en-IN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EF99-410A-C5C9-731F-80C0086B9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en-IN" b="1"/>
              <a:t>Job Roles</a:t>
            </a:r>
          </a:p>
          <a:p>
            <a:r>
              <a:rPr lang="en-IN"/>
              <a:t>Data Analyst </a:t>
            </a:r>
          </a:p>
          <a:p>
            <a:r>
              <a:rPr lang="en-IN"/>
              <a:t>Business Analyst </a:t>
            </a:r>
          </a:p>
          <a:p>
            <a:r>
              <a:rPr lang="en-IN"/>
              <a:t>Power BI Developer </a:t>
            </a:r>
          </a:p>
          <a:p>
            <a:r>
              <a:rPr lang="en-IN"/>
              <a:t>Tableau Developer </a:t>
            </a:r>
          </a:p>
          <a:p>
            <a:r>
              <a:rPr lang="en-IN"/>
              <a:t>BI Analyst </a:t>
            </a:r>
          </a:p>
          <a:p>
            <a:r>
              <a:rPr lang="en-IN"/>
              <a:t>Reporting Analyst </a:t>
            </a:r>
          </a:p>
          <a:p>
            <a:r>
              <a:rPr lang="en-IN"/>
              <a:t>Data Visualization Specialist </a:t>
            </a:r>
          </a:p>
          <a:p>
            <a:r>
              <a:rPr lang="en-IN"/>
              <a:t>Analytics Consultant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2528F-B30F-B269-FB81-3FBC5E658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6" r="20983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8232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401B-9385-1D3A-ABE8-7215DAA9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563" y="872686"/>
            <a:ext cx="4702419" cy="1320800"/>
          </a:xfrm>
        </p:spPr>
        <p:txBody>
          <a:bodyPr>
            <a:normAutofit/>
          </a:bodyPr>
          <a:lstStyle/>
          <a:p>
            <a:r>
              <a:rPr lang="en-IN" dirty="0"/>
              <a:t>Tools Used in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93DAE-BA97-E9E0-574A-D7E2853EC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514654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700" b="1" dirty="0"/>
              <a:t>Microsoft Excel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Advanced Data Analysis &amp; Reporting</a:t>
            </a:r>
          </a:p>
          <a:p>
            <a:pPr>
              <a:lnSpc>
                <a:spcPct val="90000"/>
              </a:lnSpc>
            </a:pPr>
            <a:r>
              <a:rPr lang="en-IN" sz="1700" b="1" dirty="0"/>
              <a:t>SQL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Database Querying &amp; Data Extraction</a:t>
            </a:r>
          </a:p>
          <a:p>
            <a:pPr>
              <a:lnSpc>
                <a:spcPct val="90000"/>
              </a:lnSpc>
            </a:pPr>
            <a:r>
              <a:rPr lang="en-IN" sz="1700" b="1" dirty="0"/>
              <a:t>Power BI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Business Intelligence Dashboards</a:t>
            </a:r>
          </a:p>
          <a:p>
            <a:pPr>
              <a:lnSpc>
                <a:spcPct val="90000"/>
              </a:lnSpc>
            </a:pPr>
            <a:r>
              <a:rPr lang="en-IN" sz="1700" b="1" dirty="0"/>
              <a:t>Tableau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Interactive Data Visualization</a:t>
            </a:r>
          </a:p>
          <a:p>
            <a:pPr>
              <a:lnSpc>
                <a:spcPct val="90000"/>
              </a:lnSpc>
            </a:pPr>
            <a:r>
              <a:rPr lang="en-IN" sz="1700" b="1" dirty="0"/>
              <a:t>Google Analytics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Website &amp; Marketing Analytics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IN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848E4-8A94-100C-BB2F-14DE6996E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4" r="12089"/>
          <a:stretch>
            <a:fillRect/>
          </a:stretch>
        </p:blipFill>
        <p:spPr>
          <a:xfrm>
            <a:off x="-1" y="0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46610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3D8E-5C2B-2B28-B3EA-A463FE91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IN" b="1" dirty="0"/>
              <a:t>Excel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33CD-DB3F-572C-054B-FEAAFFA1A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4290947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2400" b="1" dirty="0"/>
              <a:t>Topics Covered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Data Cleaning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Conditional Formatting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Pivot Tables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Pivot Charts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Advanced Formulas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XLOOKUP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INDEX &amp; MATCH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Dashboard Creation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900" b="1" i="1" dirty="0"/>
              <a:t>Business Use Cases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Sales Reports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Inventory Tracking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KPI Dashboards </a:t>
            </a:r>
          </a:p>
          <a:p>
            <a:pPr>
              <a:lnSpc>
                <a:spcPct val="90000"/>
              </a:lnSpc>
            </a:pP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6F5CD-6E58-0D9F-DC5C-F7B835F1C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73" y="2446411"/>
            <a:ext cx="5283289" cy="277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0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9DDF8-F8B6-173E-E764-7DA71FCF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IN" b="1" dirty="0"/>
              <a:t>SQL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D5D8E-CE06-9A29-E5E3-11081FA0E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5135916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 dirty="0"/>
              <a:t>SQL Concepts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SELECT Statements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WHERE Clause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ORDER BY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GROUP BY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HAVING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INNER JOIN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LEFT JOIN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RIGHT JOIN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Subqueries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100" b="1" dirty="0"/>
          </a:p>
          <a:p>
            <a:pPr marL="0" indent="0">
              <a:lnSpc>
                <a:spcPct val="90000"/>
              </a:lnSpc>
              <a:buNone/>
            </a:pPr>
            <a:r>
              <a:rPr lang="en-IN" b="1" dirty="0"/>
              <a:t>Real-World Usage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Customer Analysis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Sales Reporting </a:t>
            </a:r>
          </a:p>
          <a:p>
            <a:pPr>
              <a:lnSpc>
                <a:spcPct val="90000"/>
              </a:lnSpc>
            </a:pPr>
            <a:r>
              <a:rPr lang="en-IN" sz="1100" b="1" dirty="0"/>
              <a:t>Data Extraction</a:t>
            </a:r>
          </a:p>
          <a:p>
            <a:pPr>
              <a:lnSpc>
                <a:spcPct val="90000"/>
              </a:lnSpc>
            </a:pPr>
            <a:endParaRPr lang="en-IN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02B4E-E14E-AE73-5E8B-FC7846342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0" r="16093" b="-1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4745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703398-F3D9-8124-004C-8BEE96577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8" r="25464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04477B-D5A0-C653-1AF6-A06DDDC16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n-IN" b="1" dirty="0"/>
              <a:t>Power BI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3F1F0-5D53-AB60-C965-686B34863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100" b="1"/>
              <a:t>Key Modules</a:t>
            </a:r>
          </a:p>
          <a:p>
            <a:pPr>
              <a:lnSpc>
                <a:spcPct val="90000"/>
              </a:lnSpc>
            </a:pPr>
            <a:r>
              <a:rPr lang="en-IN" sz="1100"/>
              <a:t>Data Import </a:t>
            </a:r>
          </a:p>
          <a:p>
            <a:pPr>
              <a:lnSpc>
                <a:spcPct val="90000"/>
              </a:lnSpc>
            </a:pPr>
            <a:r>
              <a:rPr lang="en-IN" sz="1100"/>
              <a:t>Data Transformation </a:t>
            </a:r>
          </a:p>
          <a:p>
            <a:pPr>
              <a:lnSpc>
                <a:spcPct val="90000"/>
              </a:lnSpc>
            </a:pPr>
            <a:r>
              <a:rPr lang="en-IN" sz="1100"/>
              <a:t>Power Query </a:t>
            </a:r>
          </a:p>
          <a:p>
            <a:pPr>
              <a:lnSpc>
                <a:spcPct val="90000"/>
              </a:lnSpc>
            </a:pPr>
            <a:r>
              <a:rPr lang="en-IN" sz="1100"/>
              <a:t>Data </a:t>
            </a:r>
            <a:r>
              <a:rPr lang="en-IN" sz="1100" err="1"/>
              <a:t>Modeling</a:t>
            </a:r>
            <a:r>
              <a:rPr lang="en-IN" sz="1100"/>
              <a:t> </a:t>
            </a:r>
          </a:p>
          <a:p>
            <a:pPr>
              <a:lnSpc>
                <a:spcPct val="90000"/>
              </a:lnSpc>
            </a:pPr>
            <a:r>
              <a:rPr lang="en-IN" sz="1100"/>
              <a:t>DAX Functions </a:t>
            </a:r>
          </a:p>
          <a:p>
            <a:pPr>
              <a:lnSpc>
                <a:spcPct val="90000"/>
              </a:lnSpc>
            </a:pPr>
            <a:r>
              <a:rPr lang="en-IN" sz="1100"/>
              <a:t>Dashboard Development </a:t>
            </a:r>
          </a:p>
          <a:p>
            <a:pPr>
              <a:lnSpc>
                <a:spcPct val="90000"/>
              </a:lnSpc>
            </a:pPr>
            <a:r>
              <a:rPr lang="en-IN" sz="1100"/>
              <a:t>Report Publishing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100"/>
          </a:p>
          <a:p>
            <a:pPr>
              <a:lnSpc>
                <a:spcPct val="90000"/>
              </a:lnSpc>
            </a:pPr>
            <a:r>
              <a:rPr lang="en-IN" sz="1100" b="1"/>
              <a:t>Benefits</a:t>
            </a:r>
          </a:p>
          <a:p>
            <a:pPr>
              <a:lnSpc>
                <a:spcPct val="90000"/>
              </a:lnSpc>
            </a:pPr>
            <a:r>
              <a:rPr lang="en-IN" sz="1100"/>
              <a:t>Interactive Dashboards </a:t>
            </a:r>
          </a:p>
          <a:p>
            <a:pPr>
              <a:lnSpc>
                <a:spcPct val="90000"/>
              </a:lnSpc>
            </a:pPr>
            <a:r>
              <a:rPr lang="en-IN" sz="1100"/>
              <a:t>Real-Time Reporting </a:t>
            </a:r>
          </a:p>
          <a:p>
            <a:pPr>
              <a:lnSpc>
                <a:spcPct val="90000"/>
              </a:lnSpc>
            </a:pPr>
            <a:r>
              <a:rPr lang="en-IN" sz="1100"/>
              <a:t>Business Insights </a:t>
            </a:r>
          </a:p>
          <a:p>
            <a:pPr>
              <a:lnSpc>
                <a:spcPct val="90000"/>
              </a:lnSpc>
            </a:pP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31685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F778-7A94-EA18-011C-410CDC29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IN" b="1" dirty="0"/>
              <a:t>Python for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6977-B7AB-DB5B-DF3B-311D8300F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7" y="2160589"/>
            <a:ext cx="2934714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2000" b="1" dirty="0"/>
              <a:t>Python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Core python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Pandas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NumPy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Matplotlib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Seaborn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Django </a:t>
            </a:r>
            <a:r>
              <a:rPr lang="en-IN" sz="1400" dirty="0" err="1"/>
              <a:t>FRamework</a:t>
            </a:r>
            <a:endParaRPr lang="en-IN" sz="1400" dirty="0"/>
          </a:p>
          <a:p>
            <a:pPr>
              <a:lnSpc>
                <a:spcPct val="90000"/>
              </a:lnSpc>
            </a:pPr>
            <a:r>
              <a:rPr lang="en-IN" sz="2000" b="1" dirty="0"/>
              <a:t>Skills Learned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Data Cleaning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Data Analysis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Data Visualization 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Business Reporting</a:t>
            </a:r>
          </a:p>
          <a:p>
            <a:pPr>
              <a:lnSpc>
                <a:spcPct val="90000"/>
              </a:lnSpc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B8805-C5AA-B08E-10C8-AF4374226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4556"/>
          <a:stretch>
            <a:fillRect/>
          </a:stretch>
        </p:blipFill>
        <p:spPr>
          <a:xfrm>
            <a:off x="677334" y="2159331"/>
            <a:ext cx="5423429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79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5B78-F130-1329-178C-98ED1E88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IN" sz="3300" b="1"/>
              <a:t>Business Analytics</a:t>
            </a:r>
            <a:br>
              <a:rPr lang="en-IN" sz="3300" b="1"/>
            </a:br>
            <a:endParaRPr lang="en-IN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55FC9-76EA-2ABD-6953-B1E5F267D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5306037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sz="1500" dirty="0"/>
          </a:p>
          <a:p>
            <a:pPr>
              <a:lnSpc>
                <a:spcPct val="90000"/>
              </a:lnSpc>
            </a:pPr>
            <a:r>
              <a:rPr lang="en-IN" sz="1500" b="1" dirty="0"/>
              <a:t>KPI Analysis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     Track key performance indicators for business success.</a:t>
            </a:r>
          </a:p>
          <a:p>
            <a:pPr>
              <a:lnSpc>
                <a:spcPct val="90000"/>
              </a:lnSpc>
            </a:pPr>
            <a:r>
              <a:rPr lang="en-IN" sz="1500" b="1" dirty="0"/>
              <a:t>Sales Analytics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b="1" dirty="0"/>
              <a:t>     </a:t>
            </a:r>
            <a:r>
              <a:rPr lang="en-IN" sz="1500" dirty="0"/>
              <a:t>Identify sales trends and growth opportunities.</a:t>
            </a:r>
          </a:p>
          <a:p>
            <a:pPr>
              <a:lnSpc>
                <a:spcPct val="90000"/>
              </a:lnSpc>
            </a:pPr>
            <a:r>
              <a:rPr lang="en-IN" sz="1500" b="1" dirty="0"/>
              <a:t>Marketing Analytics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     Measure campaign performance and ROI.</a:t>
            </a:r>
          </a:p>
          <a:p>
            <a:pPr>
              <a:lnSpc>
                <a:spcPct val="90000"/>
              </a:lnSpc>
            </a:pPr>
            <a:r>
              <a:rPr lang="en-IN" sz="1500" b="1" dirty="0"/>
              <a:t>Financial Analytics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b="1" dirty="0"/>
              <a:t>     </a:t>
            </a:r>
            <a:r>
              <a:rPr lang="en-IN" sz="1500" dirty="0"/>
              <a:t>Monitor profitability and business performance.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IN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75DDF-48F1-88DB-8258-90A10D0C2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2" r="29718"/>
          <a:stretch>
            <a:fillRect/>
          </a:stretch>
        </p:blipFill>
        <p:spPr>
          <a:xfrm>
            <a:off x="20" y="-1"/>
            <a:ext cx="5209543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78232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FF19-E88E-515C-C6F6-54BB6470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IN" b="1" dirty="0"/>
              <a:t>Certifications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5B345-E90C-30D5-C646-21DBBA2A2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73" y="2206708"/>
            <a:ext cx="5283289" cy="27208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2B4B-843C-1AC0-4659-E6C66CCF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4089401" cy="3880773"/>
          </a:xfrm>
        </p:spPr>
        <p:txBody>
          <a:bodyPr>
            <a:normAutofit/>
          </a:bodyPr>
          <a:lstStyle/>
          <a:p>
            <a:r>
              <a:rPr lang="en-IN" sz="1500" b="1" i="1" dirty="0"/>
              <a:t>Course Completion Certificate</a:t>
            </a:r>
          </a:p>
          <a:p>
            <a:r>
              <a:rPr lang="en-IN" sz="1500" b="1" i="1" dirty="0"/>
              <a:t>Industry-Oriented Training Certificate</a:t>
            </a:r>
          </a:p>
          <a:p>
            <a:r>
              <a:rPr lang="en-IN" sz="1500" b="1" i="1" dirty="0"/>
              <a:t>Project Completion Certificate</a:t>
            </a:r>
          </a:p>
          <a:p>
            <a:pPr marL="0" indent="0">
              <a:buNone/>
            </a:pPr>
            <a:r>
              <a:rPr lang="en-IN" sz="1500" b="1" dirty="0"/>
              <a:t>Benefits</a:t>
            </a:r>
          </a:p>
          <a:p>
            <a:r>
              <a:rPr lang="en-IN" sz="1500" dirty="0"/>
              <a:t>Strengthens Resume </a:t>
            </a:r>
          </a:p>
          <a:p>
            <a:r>
              <a:rPr lang="en-IN" sz="1500" dirty="0"/>
              <a:t>Enhances Job Opportunities </a:t>
            </a:r>
          </a:p>
          <a:p>
            <a:r>
              <a:rPr lang="en-IN" sz="1500" dirty="0"/>
              <a:t>Demonstrates Practical Skills </a:t>
            </a:r>
          </a:p>
          <a:p>
            <a:r>
              <a:rPr lang="en-IN" sz="1500" dirty="0"/>
              <a:t>Industry Recognition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628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05EE-8FEB-5965-2A02-1532D4BA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IN" b="1" dirty="0"/>
              <a:t>Placement &amp; Interview Preparation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D710-4E35-6345-3A93-436A106E1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6" y="2160589"/>
            <a:ext cx="4758433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1700" b="1" dirty="0"/>
              <a:t>Placement Assistance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Resume Building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Portfolio Development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LinkedIn Optimization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Job Application Support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700" dirty="0"/>
          </a:p>
          <a:p>
            <a:pPr>
              <a:lnSpc>
                <a:spcPct val="90000"/>
              </a:lnSpc>
            </a:pPr>
            <a:r>
              <a:rPr lang="en-IN" sz="1700" b="1" dirty="0"/>
              <a:t>Interview Preparation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  Mock Interviews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 Technical Interview Questions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 HR Interview Guidance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/>
              <a:t>     Case Study Discussions</a:t>
            </a:r>
          </a:p>
          <a:p>
            <a:pPr>
              <a:lnSpc>
                <a:spcPct val="90000"/>
              </a:lnSpc>
            </a:pPr>
            <a:endParaRPr lang="en-IN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ECA3E-8713-5F53-6237-A8251A728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" r="6541" b="2"/>
          <a:stretch>
            <a:fillRect/>
          </a:stretch>
        </p:blipFill>
        <p:spPr>
          <a:xfrm>
            <a:off x="432285" y="2006931"/>
            <a:ext cx="5423429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97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1EF5E-29D6-4382-DAF2-55445290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500" b="1">
                <a:solidFill>
                  <a:schemeClr val="bg1"/>
                </a:solidFill>
              </a:rPr>
              <a:t>Start Your Data Analytics Journey Today!</a:t>
            </a:r>
            <a:br>
              <a:rPr lang="en-IN" sz="2500" b="1">
                <a:solidFill>
                  <a:schemeClr val="bg1"/>
                </a:solidFill>
              </a:rPr>
            </a:br>
            <a:endParaRPr lang="en-IN" sz="2500" b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E49AC-5A10-D122-42E1-1ADD98050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6" y="2127277"/>
            <a:ext cx="6707634" cy="344011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700" b="1" dirty="0">
                <a:solidFill>
                  <a:schemeClr val="bg1"/>
                </a:solidFill>
              </a:rPr>
              <a:t>Contact Us</a:t>
            </a:r>
          </a:p>
          <a:p>
            <a:pPr>
              <a:lnSpc>
                <a:spcPct val="90000"/>
              </a:lnSpc>
            </a:pPr>
            <a:r>
              <a:rPr lang="en-IN" sz="1700" b="1" dirty="0">
                <a:solidFill>
                  <a:schemeClr val="bg1"/>
                </a:solidFill>
              </a:rPr>
              <a:t>Tech </a:t>
            </a:r>
            <a:r>
              <a:rPr lang="en-IN" sz="1700" b="1" dirty="0" err="1">
                <a:solidFill>
                  <a:schemeClr val="bg1"/>
                </a:solidFill>
              </a:rPr>
              <a:t>Kraftiers</a:t>
            </a:r>
            <a:r>
              <a:rPr lang="en-IN" sz="1700" b="1" dirty="0">
                <a:solidFill>
                  <a:schemeClr val="bg1"/>
                </a:solidFill>
              </a:rPr>
              <a:t> Digital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chemeClr val="bg1"/>
                </a:solidFill>
              </a:rPr>
              <a:t>     F-19-A, Haware’s Centurion </a:t>
            </a:r>
            <a:r>
              <a:rPr lang="en-IN" sz="1700" dirty="0" err="1">
                <a:solidFill>
                  <a:schemeClr val="bg1"/>
                </a:solidFill>
              </a:rPr>
              <a:t>Mall,Sector</a:t>
            </a:r>
            <a:r>
              <a:rPr lang="en-IN" sz="1700" dirty="0">
                <a:solidFill>
                  <a:schemeClr val="bg1"/>
                </a:solidFill>
              </a:rPr>
              <a:t> 19A,       Nerul East,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     Navi Mumbai – 400706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bg1"/>
                </a:solidFill>
              </a:rPr>
              <a:t>📞 </a:t>
            </a:r>
            <a:r>
              <a:rPr lang="en-IN" sz="1700" b="1" dirty="0">
                <a:solidFill>
                  <a:schemeClr val="bg1"/>
                </a:solidFill>
              </a:rPr>
              <a:t>Phone Number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+91 7738415492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bg1"/>
                </a:solidFill>
              </a:rPr>
              <a:t>📧 </a:t>
            </a:r>
            <a:r>
              <a:rPr lang="en-IN" sz="1700" b="1" dirty="0">
                <a:solidFill>
                  <a:schemeClr val="bg1"/>
                </a:solidFill>
              </a:rPr>
              <a:t>Email Address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info@techkraftiersdigital.in</a:t>
            </a:r>
            <a:endParaRPr lang="en-IN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bg1"/>
                </a:solidFill>
              </a:rPr>
              <a:t>🌐 </a:t>
            </a:r>
            <a:r>
              <a:rPr lang="en-IN" sz="1700" b="1" dirty="0">
                <a:solidFill>
                  <a:schemeClr val="bg1"/>
                </a:solidFill>
              </a:rPr>
              <a:t>Website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www.techkraftiersdigital.in</a:t>
            </a:r>
            <a:endParaRPr lang="en-IN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IN" sz="17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AA8FD-6F7B-DF6E-84B6-373C80892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828257"/>
            <a:ext cx="5143500" cy="3188970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182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433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Trebuchet MS</vt:lpstr>
      <vt:lpstr>Wingdings</vt:lpstr>
      <vt:lpstr>Wingdings 3</vt:lpstr>
      <vt:lpstr>Facet</vt:lpstr>
      <vt:lpstr>Data Analytics Master Program </vt:lpstr>
      <vt:lpstr>Why Learn Data Analytics? </vt:lpstr>
      <vt:lpstr>Career Opportunities </vt:lpstr>
      <vt:lpstr>Tools Used in Industry</vt:lpstr>
      <vt:lpstr>Excel Analytics </vt:lpstr>
      <vt:lpstr>SQL Analytics </vt:lpstr>
      <vt:lpstr>Power BI </vt:lpstr>
      <vt:lpstr>Python for Analytics </vt:lpstr>
      <vt:lpstr>Business Analytics </vt:lpstr>
      <vt:lpstr>Certifications </vt:lpstr>
      <vt:lpstr>Placement &amp; Interview Preparation </vt:lpstr>
      <vt:lpstr>Start Your Data Analytics Journey Today!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DIGE</dc:creator>
  <cp:lastModifiedBy>NIKITA DIGE</cp:lastModifiedBy>
  <cp:revision>3</cp:revision>
  <dcterms:created xsi:type="dcterms:W3CDTF">2026-06-13T05:21:16Z</dcterms:created>
  <dcterms:modified xsi:type="dcterms:W3CDTF">2026-06-13T06:15:36Z</dcterms:modified>
</cp:coreProperties>
</file>